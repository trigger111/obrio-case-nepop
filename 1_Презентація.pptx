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8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креативів без жодної події</c:v>
                </c:pt>
              </c:strCache>
            </c:strRef>
          </c:tx>
          <c:spPr>
            <a:solidFill>
              <a:srgbClr val="4C3F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D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$10</c:v>
                  </c:pt>
                  <c:pt idx="1">
                    <c:v>$25</c:v>
                  </c:pt>
                  <c:pt idx="2">
                    <c:v>$50</c:v>
                  </c:pt>
                  <c:pt idx="3">
                    <c:v>$100</c:v>
                  </c:pt>
                  <c:pt idx="4">
                    <c:v>$200</c:v>
                  </c:pt>
                  <c:pt idx="5">
                    <c:v>$500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</c:v>
                </c:pt>
                <c:pt idx="1">
                  <c:v>35.7</c:v>
                </c:pt>
                <c:pt idx="2">
                  <c:v>19.6</c:v>
                </c:pt>
                <c:pt idx="3">
                  <c:v>6.3</c:v>
                </c:pt>
                <c:pt idx="4">
                  <c:v>1.2</c:v>
                </c:pt>
                <c:pt idx="5">
                  <c:v>0.1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1D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однакове вікно спостереження ($200)</c:v>
                </c:pt>
              </c:strCache>
            </c:strRef>
          </c:tx>
          <c:spPr>
            <a:solidFill>
              <a:srgbClr val="4C3FD6"/>
            </a:solidFill>
            <a:ln w="31750" cap="flat">
              <a:solidFill>
                <a:srgbClr val="4C3F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D3D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C3FD6"/>
              </a:solidFill>
              <a:ln w="9525" cap="flat">
                <a:solidFill>
                  <a:srgbClr val="4C3F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$25</c:v>
                  </c:pt>
                  <c:pt idx="1">
                    <c:v>$50</c:v>
                  </c:pt>
                  <c:pt idx="2">
                    <c:v>$100</c:v>
                  </c:pt>
                  <c:pt idx="3">
                    <c:v>$200</c:v>
                  </c:pt>
                  <c:pt idx="4">
                    <c:v>$300</c:v>
                  </c:pt>
                  <c:pt idx="5">
                    <c:v>$500</c:v>
                  </c:pt>
                  <c:pt idx="6">
                    <c:v>$1 000</c:v>
                  </c:pt>
                  <c:pt idx="7">
                    <c:v>$2 000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51.9</c:v>
                </c:pt>
                <c:pt idx="1">
                  <c:v>46.9</c:v>
                </c:pt>
                <c:pt idx="2">
                  <c:v>41.9</c:v>
                </c:pt>
                <c:pt idx="3">
                  <c:v>37</c:v>
                </c:pt>
                <c:pt idx="4">
                  <c:v>35</c:v>
                </c:pt>
                <c:pt idx="5">
                  <c:v>31.2</c:v>
                </c:pt>
                <c:pt idx="6">
                  <c:v>26.1</c:v>
                </c:pt>
                <c:pt idx="7">
                  <c:v>23.8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вікно, що росте разом із порогом</c:v>
                </c:pt>
              </c:strCache>
            </c:strRef>
          </c:tx>
          <c:spPr>
            <a:solidFill>
              <a:srgbClr val="D2691E"/>
            </a:solidFill>
            <a:ln w="31750" cap="flat">
              <a:solidFill>
                <a:srgbClr val="D269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D3D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2691E"/>
              </a:solidFill>
              <a:ln w="9525" cap="flat">
                <a:solidFill>
                  <a:srgbClr val="D269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$25</c:v>
                  </c:pt>
                  <c:pt idx="1">
                    <c:v>$50</c:v>
                  </c:pt>
                  <c:pt idx="2">
                    <c:v>$100</c:v>
                  </c:pt>
                  <c:pt idx="3">
                    <c:v>$200</c:v>
                  </c:pt>
                  <c:pt idx="4">
                    <c:v>$300</c:v>
                  </c:pt>
                  <c:pt idx="5">
                    <c:v>$500</c:v>
                  </c:pt>
                  <c:pt idx="6">
                    <c:v>$1 000</c:v>
                  </c:pt>
                  <c:pt idx="7">
                    <c:v>$2 000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32</c:v>
                </c:pt>
                <c:pt idx="1">
                  <c:v>38.1</c:v>
                </c:pt>
                <c:pt idx="2">
                  <c:v>39.4</c:v>
                </c:pt>
                <c:pt idx="3">
                  <c:v>37</c:v>
                </c:pt>
                <c:pt idx="4">
                  <c:v>36.1</c:v>
                </c:pt>
                <c:pt idx="5">
                  <c:v>34.4</c:v>
                </c:pt>
                <c:pt idx="6">
                  <c:v>30.1</c:v>
                </c:pt>
                <c:pt idx="7">
                  <c:v>28.1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1D3D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8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ризик  (ROMI ≤ −50%)</c:v>
                </c:pt>
              </c:strCache>
            </c:strRef>
          </c:tx>
          <c:spPr>
            <a:solidFill>
              <a:srgbClr val="D03B3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F1D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змінили статус пізніше</c:v>
                  </c:pt>
                  <c:pt idx="1">
                    <c:v>закінчили ROMI ≥ 30%</c:v>
                  </c:pt>
                  <c:pt idx="2">
                    <c:v>ROMI наступних витрат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28.4</c:v>
                </c:pt>
                <c:pt idx="1">
                  <c:v>18.9</c:v>
                </c:pt>
                <c:pt idx="2">
                  <c:v>18.8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сіра зона  (−50…+100%)</c:v>
                </c:pt>
              </c:strCache>
            </c:strRef>
          </c:tx>
          <c:spPr>
            <a:solidFill>
              <a:srgbClr val="8A8A9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F1D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змінили статус пізніше</c:v>
                  </c:pt>
                  <c:pt idx="1">
                    <c:v>закінчили ROMI ≥ 30%</c:v>
                  </c:pt>
                  <c:pt idx="2">
                    <c:v>ROMI наступних витрат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42.7</c:v>
                </c:pt>
                <c:pt idx="2">
                  <c:v>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сильний кандидат  (≥ +100%)</c:v>
                </c:pt>
              </c:strCache>
            </c:strRef>
          </c:tx>
          <c:spPr>
            <a:solidFill>
              <a:srgbClr val="0CA30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F1D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змінили статус пізніше</c:v>
                  </c:pt>
                  <c:pt idx="1">
                    <c:v>закінчили ROMI ≥ 30%</c:v>
                  </c:pt>
                  <c:pt idx="2">
                    <c:v>ROMI наступних витрат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11.5</c:v>
                </c:pt>
                <c:pt idx="1">
                  <c:v>89.9</c:v>
                </c:pt>
                <c:pt idx="2">
                  <c:v>51.7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F1D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A58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креативів, що доходять до суми</c:v>
                </c:pt>
              </c:strCache>
            </c:strRef>
          </c:tx>
          <c:spPr>
            <a:solidFill>
              <a:srgbClr val="4C3FD6"/>
            </a:solidFill>
            <a:ln w="31750" cap="flat">
              <a:solidFill>
                <a:srgbClr val="4C3F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D3D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C3FD6"/>
              </a:solidFill>
              <a:ln w="9525" cap="flat">
                <a:solidFill>
                  <a:srgbClr val="4C3F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$50</c:v>
                  </c:pt>
                  <c:pt idx="1">
                    <c:v>$100</c:v>
                  </c:pt>
                  <c:pt idx="2">
                    <c:v>$200</c:v>
                  </c:pt>
                  <c:pt idx="3">
                    <c:v>$500</c:v>
                  </c:pt>
                  <c:pt idx="4">
                    <c:v>$1 000</c:v>
                  </c:pt>
                  <c:pt idx="5">
                    <c:v>$2 000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19.3</c:v>
                </c:pt>
                <c:pt idx="1">
                  <c:v>10.2</c:v>
                </c:pt>
                <c:pt idx="2">
                  <c:v>5.1</c:v>
                </c:pt>
                <c:pt idx="3">
                  <c:v>2.4</c:v>
                </c:pt>
                <c:pt idx="4">
                  <c:v>1.3</c:v>
                </c:pt>
                <c:pt idx="5">
                  <c:v>0.7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бюджету, який вони тримають</c:v>
                </c:pt>
              </c:strCache>
            </c:strRef>
          </c:tx>
          <c:spPr>
            <a:solidFill>
              <a:srgbClr val="D2691E"/>
            </a:solidFill>
            <a:ln w="31750" cap="flat">
              <a:solidFill>
                <a:srgbClr val="D269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D3D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2691E"/>
              </a:solidFill>
              <a:ln w="9525" cap="flat">
                <a:solidFill>
                  <a:srgbClr val="D269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$50</c:v>
                  </c:pt>
                  <c:pt idx="1">
                    <c:v>$100</c:v>
                  </c:pt>
                  <c:pt idx="2">
                    <c:v>$200</c:v>
                  </c:pt>
                  <c:pt idx="3">
                    <c:v>$500</c:v>
                  </c:pt>
                  <c:pt idx="4">
                    <c:v>$1 000</c:v>
                  </c:pt>
                  <c:pt idx="5">
                    <c:v>$2 000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94.2</c:v>
                </c:pt>
                <c:pt idx="1">
                  <c:v>88.1</c:v>
                </c:pt>
                <c:pt idx="2">
                  <c:v>81.7</c:v>
                </c:pt>
                <c:pt idx="3">
                  <c:v>74</c:v>
                </c:pt>
                <c:pt idx="4">
                  <c:v>67.1</c:v>
                </c:pt>
                <c:pt idx="5">
                  <c:v>59.6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1D3D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8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назва порогу</c:v>
                </c:pt>
              </c:strCache>
            </c:strRef>
          </c:tx>
          <c:spPr>
            <a:solidFill>
              <a:srgbClr val="8A8A96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D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після $50</c:v>
                  </c:pt>
                  <c:pt idx="1">
                    <c:v>після $200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медіанні фактичні витрати</c:v>
                </c:pt>
              </c:strCache>
            </c:strRef>
          </c:tx>
          <c:spPr>
            <a:solidFill>
              <a:srgbClr val="4C3FD6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D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після $50</c:v>
                  </c:pt>
                  <c:pt idx="1">
                    <c:v>після $200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79</c:v>
                </c:pt>
                <c:pt idx="1">
                  <c:v>267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b="0" i="0" strike="noStrike" sz="1100" u="none">
                  <a:solidFill>
                    <a:srgbClr val="1F1D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</c:scaling>
        <c:delete val="0"/>
        <c:axPos val="l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&quot;$&quot;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8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ROMI наступних витрат</c:v>
                </c:pt>
              </c:strCache>
            </c:strRef>
          </c:tx>
          <c:spPr>
            <a:solidFill>
              <a:srgbClr val="4C3F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D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$50 → $100  (ризик)</c:v>
                  </c:pt>
                  <c:pt idx="1">
                    <c:v>$50 → $200  (продовжити)</c:v>
                  </c:pt>
                  <c:pt idx="2">
                    <c:v>$200 → $250  (ризик)</c:v>
                  </c:pt>
                  <c:pt idx="3">
                    <c:v>$200 → $300  (сіра зона)</c:v>
                  </c:pt>
                  <c:pt idx="4">
                    <c:v>$200 → $500  (сильний)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20.8</c:v>
                </c:pt>
                <c:pt idx="1">
                  <c:v>65.3</c:v>
                </c:pt>
                <c:pt idx="2">
                  <c:v>40.5</c:v>
                </c:pt>
                <c:pt idx="3">
                  <c:v>47.7</c:v>
                </c:pt>
                <c:pt idx="4">
                  <c:v>58.7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1D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b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вартість події, $</c:v>
                </c:pt>
              </c:strCache>
            </c:strRef>
          </c:tx>
          <c:spPr>
            <a:solidFill>
              <a:srgbClr val="4C3FD6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D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Money</c:v>
                  </c:pt>
                  <c:pt idx="1">
                    <c:v>Vibrations</c:v>
                  </c:pt>
                  <c:pt idx="2">
                    <c:v>Dreams</c:v>
                  </c:pt>
                  <c:pt idx="3">
                    <c:v>Obsession</c:v>
                  </c:pt>
                  <c:pt idx="4">
                    <c:v>Loneliness</c:v>
                  </c:pt>
                  <c:pt idx="5">
                    <c:v>Narcissism</c:v>
                  </c:pt>
                  <c:pt idx="6">
                    <c:v>Witch</c:v>
                  </c:pt>
                  <c:pt idx="7">
                    <c:v>Past life</c:v>
                  </c:pt>
                  <c:pt idx="8">
                    <c:v>Children</c:v>
                  </c:pt>
                  <c:pt idx="9">
                    <c:v>Seduction Archetype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16.1</c:v>
                </c:pt>
                <c:pt idx="1">
                  <c:v>11.41</c:v>
                </c:pt>
                <c:pt idx="2">
                  <c:v>9</c:v>
                </c:pt>
                <c:pt idx="3">
                  <c:v>7.88</c:v>
                </c:pt>
                <c:pt idx="4">
                  <c:v>6.78</c:v>
                </c:pt>
                <c:pt idx="5">
                  <c:v>1.99</c:v>
                </c:pt>
                <c:pt idx="6">
                  <c:v>1.88</c:v>
                </c:pt>
                <c:pt idx="7">
                  <c:v>1.87</c:v>
                </c:pt>
                <c:pt idx="8">
                  <c:v>1.85</c:v>
                </c:pt>
                <c:pt idx="9">
                  <c:v>1.83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1D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&quot;$&quot;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тижнів до висновку</c:v>
                </c:pt>
              </c:strCache>
            </c:strRef>
          </c:tx>
          <c:spPr>
            <a:solidFill>
              <a:srgbClr val="4C3FD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D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сирий результат
(основний показник)</c:v>
                  </c:pt>
                  <c:pt idx="1">
                    <c:v>кластери-кампанії
−25% розкиду</c:v>
                  </c:pt>
                  <c:pt idx="2">
                    <c:v>CUPED
−35% розкиду</c:v>
                  </c:pt>
                  <c:pt idx="3">
                    <c:v>обмежено крайній 1%
(перевірка стійкості)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24</c:v>
                </c:pt>
                <c:pt idx="2">
                  <c:v>19</c:v>
                </c:pt>
                <c:pt idx="3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F1D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Документ створено для самостійного читання. Числа на слайдах експортує ноутбук у data/deck_data.json, тому деку й аналіз неможливо розсинхронізувати.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Обидва антипатерни з кейсу мають ціну. Ключовий аргумент проти правила Гени — не точність, а бюджет: воно вимагало б у 18 разів більше грошей, ніж компанія витратила за весь період.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відповідь на пункт 1 очікуваного результату кейсу: яка ідея закладена і чому саме вона. Важливо, що дві альтернативи не відкинуті на смак — вони перевірені в розділах 5 і 7 ноутбука.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Прогноз доходу фіксуємо в одній версії до старту перевірки, а після дозрівання когорт звіряємо з фактичними грошима. Медіанний креатив витрачає лише $5,35 — це головна причина, чому рішення мають бути дешевими й швидкими.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Мінімальний поріг виведений із даних, а не призначений. До $50 оцінюємо лише технічну справність: покази йдуть, посилання живе, витрати й дохід пишуться.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Ключове: ми не приховуємо незручний результат, а робимо з нього конструктивний висновок. Якщо обсяг не дає певності, то поріг зупинки треба обирати за ціною тесту, а рішення — за значенням ROMI.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пряма відповідь на питання 2 кейсу: обсяг $200, значення метрики ROMI ≥ +100% і ≤ −50%, і частота зміни статусу 11,5% та 28,4% проти 37,0% у середньому. Асиметрія важлива: сильний кандидат упізнається значно надійніше, ніж поганий, тому автоматичного вимкнення ми не пропонуємо.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Питання кейсу звучить як «які максимальні обʼєми, на яких рішення достатньо точне для більшості випадків». Чесна відповідь: такої суми в цих даних немає, і ми це показали на попередньому слайді. Тому межу обираємо економічно.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Ризикова гілка на $50 не означає вимкнення. Вона означає менший наступний крок і обовʼязкову ручну перевірку — саме тому, що з історичних даних безпечне автоматичне вимкнення довести не можна.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Пороги −50% і +100% — кандидати для контрольованої перевірки, а не універсальні константи. Їхню користь доводить лише випадковий розподіл.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неочевидна, але важлива деталь реалізації: без неї експеримент із рівними бюджетами неможливо провести коректно.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Без журналу неможливо ані виміряти ефект правил, ані відрізнити «правило не спрацювало» від «правило обійшли». Поле «рекомендація правила проти фактичної дії» — ключове для аналізу пілота.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Атомарність кроку — не педантизм. Половина кроку дає результат, який неможливо порівняти з іншою групою, і ламає весь вимір ефекту.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Селективна розмітка: історичний follow-up існує тільки там, де Meta або маркетолог уже вирішили дати бюджет. Це головна причина, чому автоматичне вимкнення з цих даних вивести не можна.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відповідь на «чому» в питанні 4. Вартість події — саме той механізм, через який однакова сума означає різну впевненість. Сегментні пороги вводимо тоді, коли в сегменті накопичиться достатньо підтверджених результатів.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Питання кейсу прямо просить назвати інші розрізи, які можуть впливати. Важливо не просто перелічити їх, а сказати, що саме ламається без кожного — і що campaign_id блокує коректний дизайн експерименту.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відмінність від історичної перевірки: тут ми самі створюємо контрфакт. Рандомізація всередині ризикової зони — єдине джерело даних про хибні вимкнення.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Чесно показуємо, що наївний розрахунок дає 42 тижні — і що правильна реакція на це не «подовжити тест», а зменшити дисперсію. Коефіцієнти −25% і −35% — консервативні планові припущення; фактичне зменшення переоцінюємо на перших 1 000 креативів наосліп.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необовʼязковий блок кейсу. Кожен факт вибраний за критерієм «змінює рішення», а не «цікава цифра».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Усі пʼять питань кейсу закриті. Головна відмінність від наївного рішення: ми не стверджуємо, що знайшли універсальні пороги, і чітко розділяємо доведене та правдоподібне.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Цей слайд навмисно залишений у деку. Він показує, що межі висновків усвідомлені, і саме тому решті цифр можна довіряти.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Пакет самодостатній: чернетки, журнали роботи й старі версії навмисно не включені, щоб не створювати суперечностей із фінальним рішенням.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371600"/>
            <a:ext cx="5852160" cy="5852160"/>
          </a:xfrm>
          <a:prstGeom prst="ellipse">
            <a:avLst/>
          </a:prstGeom>
          <a:solidFill>
            <a:srgbClr val="4C3FD6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377440"/>
            <a:ext cx="3840480" cy="3840480"/>
          </a:xfrm>
          <a:prstGeom prst="ellipse">
            <a:avLst/>
          </a:prstGeom>
          <a:solidFill>
            <a:srgbClr val="D2691E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713232"/>
            <a:ext cx="1554480" cy="542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371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ANALYTICS CAMP 3.0   ·   CASE #4   ·   OBRIO / NEBULA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1828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Кому дати</a:t>
            </a:r>
            <a:endParaRPr lang="en-US" sz="480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наступний бюджет?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66928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тестування креативів: прозорі правила замість здогадок про переможця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4526280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197 127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4855464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щоденних рядків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679192" y="4526280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70 140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679192" y="4855464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креативів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91456" y="4526280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день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791456" y="4855464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01.08.2025 – 19.03.2026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903720" y="4526280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$7,7M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903720" y="4855464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витрат у портфелі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6928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Самодостатній документ: усі висновки на слайдах. Кожне число зібрано автоматично з файлу аналізу.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Сьогодні рішення або поспішає, або запізнюється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Єдиної системи оцінки немає, тому кожен маркетолог тестує по-своєму — і обидві крайності коштують грошей.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5399532" cy="2148840"/>
          </a:xfrm>
          <a:prstGeom prst="roundRect">
            <a:avLst>
              <a:gd name="adj" fmla="val 3830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84832"/>
            <a:ext cx="49240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«Тоха»: рішення на малих обʼємах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4323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441448" y="2459736"/>
            <a:ext cx="32506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креативів на $50 пізніше змінюють статус відносно цілі +30%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145536"/>
            <a:ext cx="49240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випадкових покупок різко піднімають ранній ROMI. Варіації запускають за шумом, а не за сигналом.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22492" y="1883664"/>
            <a:ext cx="5399532" cy="2148840"/>
          </a:xfrm>
          <a:prstGeom prst="roundRect">
            <a:avLst>
              <a:gd name="adj" fmla="val 3830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0236" y="2084832"/>
            <a:ext cx="49240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«Гена»: чекати до $2 000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0236" y="24323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097012" y="2459736"/>
            <a:ext cx="32506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креативів узагалі доходять до $2 000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60236" y="3145536"/>
            <a:ext cx="49240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точніше, але майже ні до кого не застосовне: слабкі встигають злити бюджет, сильні скейляться із запізненням.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261104"/>
            <a:ext cx="11055096" cy="1170432"/>
          </a:xfrm>
          <a:prstGeom prst="roundRect">
            <a:avLst>
              <a:gd name="adj" fmla="val 7031"/>
            </a:avLst>
          </a:prstGeom>
          <a:solidFill>
            <a:srgbClr val="171635"/>
          </a:solidFill>
          <a:ln w="9525">
            <a:solidFill>
              <a:srgbClr val="17163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444398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«чекати $2 000» не просто неточне — воно незастосовне за бюджетом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479145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кожен креатив до $2 000 коштувало б $140,3M проти фактичних $7,7M — це у 18 разів більший бюджет.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82128" y="4480560"/>
            <a:ext cx="3465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Потрібне одне правило: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дати наступну частину бюджету і коли оцінити знову.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1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файл аналізу (ноутбук), розділи 2.4 і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САМЕ ТАКИЙ ФРЕЙМВОРК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Ідея: не вгадувати переможця, а керувати наступним кроком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перевірили три можливі підходи. Два з них ці дані не витримують — і це перевірений результат, а не припущення.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3538728" cy="2395728"/>
          </a:xfrm>
          <a:prstGeom prst="roundRect">
            <a:avLst>
              <a:gd name="adj" fmla="val 3435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06654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ПРАЦЮЄ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" y="230428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Поріг обсягу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615184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«чекати, поки набереться достатньо даних»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2999232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Суми, після якої рішення стає надійним, у цих даних не існує: навіть на $2 000 статус ще змінюється у 23,8% випадків.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883664"/>
            <a:ext cx="3538728" cy="2395728"/>
          </a:xfrm>
          <a:prstGeom prst="roundRect">
            <a:avLst>
              <a:gd name="adj" fmla="val 3435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4568" y="206654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НЕДОСТАТНЬО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44568" y="230428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Прогнозна модель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4568" y="2615184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«навчити модель обирати переможців»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44568" y="2999232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ранжує краще за поточний ROMI (0,593 проти 0,532), але за грошима виграла лише в 3 із 4 періодів.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1883664"/>
            <a:ext cx="3538728" cy="2395728"/>
          </a:xfrm>
          <a:prstGeom prst="roundRect">
            <a:avLst>
              <a:gd name="adj" fmla="val 3435"/>
            </a:avLst>
          </a:prstGeom>
          <a:solidFill>
            <a:srgbClr val="F1F7F1"/>
          </a:solidFill>
          <a:ln w="9525">
            <a:solidFill>
              <a:srgbClr val="BFE3BF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02752" y="206654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ОБРАНО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02752" y="230428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наступного бюджету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02752" y="2615184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«скільки дати зараз і коли перевірити»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02752" y="2999232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вимагає передбачати майбутнє. Обмежує збиток однією контрольною сумою, прискорює сильних кандидатів і піддається чесній перевірці експериментом.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498848"/>
            <a:ext cx="11055096" cy="960120"/>
          </a:xfrm>
          <a:prstGeom prst="roundRect">
            <a:avLst>
              <a:gd name="adj" fmla="val 8571"/>
            </a:avLst>
          </a:prstGeom>
          <a:solidFill>
            <a:srgbClr val="171635"/>
          </a:solidFill>
          <a:ln w="9525">
            <a:solidFill>
              <a:srgbClr val="17163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4681728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Одне речення, яким описується весь фреймворк: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— це не вирок «хіт чи провал», а відповідь на питання «яку наступну обмежену суму дати і коли оцінити знову».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4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розділи 5 (пороги обсягу), 7 (модель), 9 (правила)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ФРЕЙМВОРКУ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Чотири визначення, на яких тримаються всі рішення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числа далі рахуються тільки цими формулами — однаково для кожного креативу й кожного сегмента.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2612898" cy="2212848"/>
          </a:xfrm>
          <a:prstGeom prst="roundRect">
            <a:avLst>
              <a:gd name="adj" fmla="val 371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2048256"/>
            <a:ext cx="2210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322576"/>
            <a:ext cx="2210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Дохід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8096" y="2670048"/>
            <a:ext cx="221056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70048"/>
            <a:ext cx="21008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3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predict_net_revenue + upsells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8096" y="3127248"/>
            <a:ext cx="22105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доходу плюс додаткові покупки. Апселі — це 36% доходу, без них ROMI занижений.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0994" y="1883664"/>
            <a:ext cx="2612898" cy="2212848"/>
          </a:xfrm>
          <a:prstGeom prst="roundRect">
            <a:avLst>
              <a:gd name="adj" fmla="val 371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82162" y="2048256"/>
            <a:ext cx="2210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82162" y="2322576"/>
            <a:ext cx="2210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82162" y="2670048"/>
            <a:ext cx="221056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7026" y="2670048"/>
            <a:ext cx="21008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3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(дохід − витрати) / витрати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82162" y="3127248"/>
            <a:ext cx="22105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 бізнесу — не нуль, а +30%. Саме з нею порівнюємо кожне рішення.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5060" y="1883664"/>
            <a:ext cx="2612898" cy="2212848"/>
          </a:xfrm>
          <a:prstGeom prst="roundRect">
            <a:avLst>
              <a:gd name="adj" fmla="val 371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96228" y="2048256"/>
            <a:ext cx="2210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96228" y="2322576"/>
            <a:ext cx="2210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частини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96228" y="2670048"/>
            <a:ext cx="221056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1092" y="2670048"/>
            <a:ext cx="21008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3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рахуємо лише після рішення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96228" y="3127248"/>
            <a:ext cx="22105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Дохід і витрати, що виникли після моменту оцінки. Не дає ранньому старту прикрашати підсумок.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09126" y="1883664"/>
            <a:ext cx="2612898" cy="2212848"/>
          </a:xfrm>
          <a:prstGeom prst="roundRect">
            <a:avLst>
              <a:gd name="adj" fmla="val 371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10294" y="2048256"/>
            <a:ext cx="2210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10294" y="2322576"/>
            <a:ext cx="2210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Зміна статусу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210294" y="2670048"/>
            <a:ext cx="221056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65158" y="2670048"/>
            <a:ext cx="21008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3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перехід через ціль +30%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210294" y="3127248"/>
            <a:ext cx="22105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опинився ROMI пізніше по інший бік цілі. Це наша міра надійності рішення.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315968"/>
            <a:ext cx="261289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443984"/>
            <a:ext cx="2247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197 127 × 70 140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9808" y="4773168"/>
            <a:ext cx="2247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рядків «креатив × день» і унікальних креативів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0994" y="4315968"/>
            <a:ext cx="261289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3874" y="4443984"/>
            <a:ext cx="2247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37,2%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563874" y="4773168"/>
            <a:ext cx="2247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портфеля при цілі +30%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5060" y="4315968"/>
            <a:ext cx="261289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7940" y="4443984"/>
            <a:ext cx="2247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$5,35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77940" y="4773168"/>
            <a:ext cx="2247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медіанні витрати креативу за все життя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09126" y="4315968"/>
            <a:ext cx="261289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92006" y="4443984"/>
            <a:ext cx="2247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92006" y="4773168"/>
            <a:ext cx="2247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єдине джерело трафіку в даних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43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розділи 1–2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1 · МІНІМАЛЬНИЙ ПОРІГ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$50 ROMI — це не оцінка, а відсутність даних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креатив ще не купив жодної події конверсії, його ROMI дорівнює −100% механічно — незалежно від того, хороший він чи поганий.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83664"/>
            <a:ext cx="6565392" cy="3172968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482803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креативів, у яких у момент першого перетину суми поле trials дорівнює нулю.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993392"/>
          <a:ext cx="630936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260336" y="1993392"/>
            <a:ext cx="4361688" cy="1481328"/>
          </a:xfrm>
          <a:prstGeom prst="roundRect">
            <a:avLst>
              <a:gd name="adj" fmla="val 5556"/>
            </a:avLst>
          </a:prstGeom>
          <a:solidFill>
            <a:srgbClr val="F1F7F1"/>
          </a:solidFill>
          <a:ln w="9525">
            <a:solidFill>
              <a:srgbClr val="BFE3BF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43216" y="2139696"/>
            <a:ext cx="3995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ВІДПОВІДЬ НА ПИТАННЯ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43216" y="2377440"/>
            <a:ext cx="3995928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443216" y="3086608"/>
            <a:ext cx="3995928" cy="333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сума, на якій більшість креативів уже мають хоч якийсь сигнал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260336" y="36210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$25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037576" y="36210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35,7%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887968" y="3621024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мають подій — рішення неможливе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60336" y="40782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$50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037576" y="40782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887968" y="4078224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мають подій — межа прийнятного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260336" y="45354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$100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037576" y="45354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87968" y="4535424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мають подій — але вже дорого чекати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" y="5175504"/>
            <a:ext cx="3538728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5340096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88720" y="5303520"/>
            <a:ext cx="2752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Інформаційний аргумент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$25 у 36% креативів немає жодної події. На $50 — у 20%.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325112" y="5175504"/>
            <a:ext cx="3538728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89704" y="5340096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89704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946904" y="5303520"/>
            <a:ext cx="2752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Операційний аргумент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Креативи, що дійшли до $50, тримають 94,2% усього бюджету: поріг майже не втрачає гроші з поля зору.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083296" y="5175504"/>
            <a:ext cx="3538728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47888" y="5340096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47888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705088" y="5303520"/>
            <a:ext cx="2752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Економічний аргумент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Медіанний креатив витрачає $5,35 за життя. Вищий поріг просто не встигне спрацювати.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5" name="Image 0" descr="OB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5.2 ноутбука · графік q1_minimum_threshold.png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3 · ДЕ МЕЖА ТОЧНОСТІ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Збільшення обсягу не робить рішення надійним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і найнезручніший результат аналізу: суми, після якої вердикт перестає змінюватися, у цих даних немає.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65376"/>
            <a:ext cx="7205472" cy="3401568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503834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креативів, у яких статус відносно цілі +30% пізніше змінився хоча б раз.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975104"/>
          <a:ext cx="6949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82128" y="1975104"/>
            <a:ext cx="3739896" cy="1463040"/>
          </a:xfrm>
          <a:prstGeom prst="roundRect">
            <a:avLst>
              <a:gd name="adj" fmla="val 5625"/>
            </a:avLst>
          </a:prstGeom>
          <a:solidFill>
            <a:srgbClr val="FDF3EC"/>
          </a:solidFill>
          <a:ln w="9525">
            <a:solidFill>
              <a:srgbClr val="F0D3BC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65008" y="2121408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НАВІТЬ НА $2 000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65008" y="2359152"/>
            <a:ext cx="3374136" cy="656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23,8%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8065008" y="3033776"/>
            <a:ext cx="3374136" cy="34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креативів усе ще змінюють статус — а доходить туди лише 0,7% запусків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82128" y="3566160"/>
            <a:ext cx="3739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Методична деталь, яка змінює висновок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вимагати «після $X ще $X», вікно вимірювання різне на кожній точці й крива стає немонотонною — здається, що обсяг узагалі не допомагає. На однаковому вікні видно правду: надійність росте, але повільно і не до кінця.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5522976"/>
            <a:ext cx="355092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9808" y="5669280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$25 ДО $2 000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9808" y="5907024"/>
            <a:ext cx="318516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→ 24%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9808" y="6305296"/>
            <a:ext cx="318516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надійність росте, але лишається далекою від певності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19016" y="5522976"/>
            <a:ext cx="355092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01896" y="5669280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 ПРАВИЛА «ROMI ≥ 30%»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01896" y="5907024"/>
            <a:ext cx="318516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51–54%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501896" y="6305296"/>
            <a:ext cx="318516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збалансована точність на будь-якому обсязі — майже монета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071104" y="5522976"/>
            <a:ext cx="355092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253984" y="5669280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ЗВІДСИ ГОЛОВНИЙ ВИСНОВОК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253984" y="5907024"/>
            <a:ext cx="318516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— за зоною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253984" y="6305296"/>
            <a:ext cx="318516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 сумою витрат: уся нестабільність зосереджена в середині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7" name="Image 0" descr="OB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5.1 ноутбука · графік stage_3_stability_backtest.png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2 І 3 · ОЧЕВИДНІ ВИПАДКИ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$200 три зони ROMI поводяться зовсім по-різному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Очевидний випадок — це не той, хто набрав багато витрат, а той, чий ROMI лежить далеко від цілі. Уся нестабільність сидить у середині.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47088"/>
            <a:ext cx="7159752" cy="3035808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4654296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Ліворуч — менше означає стабільніше. Праворуч — більше означає кращий результат. Ціль ROMI +30%.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956816"/>
          <a:ext cx="6903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818120" y="195681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 значення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249424"/>
          <a:ext cx="3803904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143000"/>
                <a:gridCol w="960120"/>
                <a:gridCol w="850392"/>
              </a:tblGrid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зона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креативів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змінили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далі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ризик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 (9%)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сіра зона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2 507 (70%)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сильний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764 (21%)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i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усі, хто дійшов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i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3 597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i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i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818120" y="3968496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дві колонки результату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«Закінчили ROMI ≥ 30%» частково механічне: креатив із +185% мусив би довго працювати в мінус, щоб упасти нижче цілі. Тому головна колонка — ROMI грошей, витрачених </a:t>
            </a:r>
            <a:pPr indent="0" marL="0">
              <a:buNone/>
            </a:pPr>
            <a:r>
              <a:rPr lang="en-US" sz="1000" b="1" i="1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</a:t>
            </a:r>
            <a:pPr indent="0" marL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рішення.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4992624"/>
            <a:ext cx="3550920" cy="1207008"/>
          </a:xfrm>
          <a:prstGeom prst="roundRect">
            <a:avLst>
              <a:gd name="adj" fmla="val 6818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49808" y="5138928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ОЧЕВИДНО СИЛЬНИЙ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49808" y="5376672"/>
            <a:ext cx="318516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≥ +100%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49808" y="5723128"/>
            <a:ext cx="318516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змінює статус лише в 11,5% — у 4,3 раза стабільніше за сіру зону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19016" y="4992624"/>
            <a:ext cx="3550920" cy="1207008"/>
          </a:xfrm>
          <a:prstGeom prst="roundRect">
            <a:avLst>
              <a:gd name="adj" fmla="val 6818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501896" y="5138928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ОЧЕВИДНО РИЗИКОВИЙ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501896" y="5376672"/>
            <a:ext cx="318516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≤ −50%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501896" y="5723128"/>
            <a:ext cx="318516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наступні гроші окупаються під 18,8% — нижче цілі, але це не збиток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71104" y="4992624"/>
            <a:ext cx="3550920" cy="1207008"/>
          </a:xfrm>
          <a:prstGeom prst="roundRect">
            <a:avLst>
              <a:gd name="adj" fmla="val 6818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253984" y="5138928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НЕОДНОЗНАЧНИЙ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253984" y="5376672"/>
            <a:ext cx="318516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 … +100%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8253984" y="5723128"/>
            <a:ext cx="318516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креативів і 50,0% змін статусу — тут ранній ROMI не працює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25" name="Image 0" descr="OB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5.3 ноутбука · графік q2_decision_zones.png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3 · МАКСИМАЛЬНИЙ ОБʼЄМ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Максимум $500 — це межа за ціною, а не за точністю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Суми, після якої рішення стає надійним, у цих даних немає. Зате є сума, після якої подальша точність стає надто дорогою.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65376"/>
            <a:ext cx="6839712" cy="3218688"/>
          </a:xfrm>
          <a:prstGeom prst="roundRect">
            <a:avLst>
              <a:gd name="adj" fmla="val 2557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вищий поріг, то менше креативів під нього підпадає — але тим більшу частку бюджету вони тримають.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975104"/>
          <a:ext cx="65836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516368" y="1975104"/>
            <a:ext cx="4105656" cy="1426464"/>
          </a:xfrm>
          <a:prstGeom prst="roundRect">
            <a:avLst>
              <a:gd name="adj" fmla="val 576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99248" y="212140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КОЖЕН КРЕАТИВ ДО $500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99248" y="2359152"/>
            <a:ext cx="373989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$35,1M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699248" y="2964688"/>
            <a:ext cx="3739896" cy="382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 фактичних $7,7M за весь період — у 4,6 раза більше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16368" y="3529584"/>
            <a:ext cx="4105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Тому $500 — це ліміт, а не обіцянка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Природним шляхом до $500 доходить 2,4% креативів. Ми не гарантуємо цю суму кожному — ми лише припиняємо на ній автоматичне правило. Далі креатив виходить із тесту й конкурує за бюджет портфеля на загальних підставах.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5248656"/>
            <a:ext cx="2626614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5376672"/>
            <a:ext cx="2260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9808" y="5705856"/>
            <a:ext cx="2260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робоча точка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9808" y="5916168"/>
            <a:ext cx="2260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нижче — тільки технічна перевірка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376422" y="5248656"/>
            <a:ext cx="2626614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59302" y="5376672"/>
            <a:ext cx="2260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559302" y="5705856"/>
            <a:ext cx="2260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точка рішення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559302" y="5916168"/>
            <a:ext cx="2260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тут працюють три зони ROMI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85916" y="5248656"/>
            <a:ext cx="2626614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68796" y="5376672"/>
            <a:ext cx="2260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368796" y="5705856"/>
            <a:ext cx="2260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вимірюваний крок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68796" y="5916168"/>
            <a:ext cx="2260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лише для неоднозначної зони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995410" y="5248656"/>
            <a:ext cx="2626614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78290" y="5376672"/>
            <a:ext cx="2260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178290" y="5705856"/>
            <a:ext cx="2260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кінець автоматики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178290" y="5916168"/>
            <a:ext cx="2260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далі — рішення для портфеля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31" name="Image 0" descr="OB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розділи 2.4 і 9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· РІШЕННЯ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1/2: від запуску до $200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 — це загальна сума витрат, а не нові гроші зверху. Сума до видачі = max(0, ціль − уже витрачено).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11055096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4754880"/>
                <a:gridCol w="209397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момент рішення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бачимо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дія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наступна оцінка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будь-який ROMI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ефективність не оцінюємо; лише технічні зупинки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 ≤ −50%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обережно ведемо до $100 + ручна перевірка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 &gt; −50%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CA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ведемо до 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технічна помилка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виправити або пауза; причина в журналі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після виправлення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усе працює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ведемо до 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672584"/>
            <a:ext cx="5408676" cy="1170432"/>
          </a:xfrm>
          <a:prstGeom prst="roundRect">
            <a:avLst>
              <a:gd name="adj" fmla="val 7031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4855464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07008" y="4818888"/>
            <a:ext cx="45857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«до $50» — це не бездіяльність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цьому етапі перевіряємо, що креатив узагалі отримав шанс: покази йдуть, посилання живе, оплата працює, витрати й дохід пишуться в звіт.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3348" y="4672584"/>
            <a:ext cx="5408676" cy="1170432"/>
          </a:xfrm>
          <a:prstGeom prst="roundRect">
            <a:avLst>
              <a:gd name="adj" fmla="val 7031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96228" y="4855464"/>
            <a:ext cx="329184" cy="329184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96228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3428" y="4818888"/>
            <a:ext cx="45857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ціль, а не «+$150»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денні, тому в момент першого перетину $50 медіанні фактичні витрати вже $79. Добавка «+$150» означала б різні суми для різних креативів.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16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9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· РІШЕННЯ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2/2: після $200 зони отримують різний крок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Саме тут працює поділ на три зони. Ризикова гілка навмисно залишена перевіркою, а не автоматичним вимкненням.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11055096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017520"/>
                <a:gridCol w="4434840"/>
                <a:gridCol w="200253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момент рішення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бачимо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дія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наступна оцінка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 ≥ +100%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CA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пріоритет бюджету до $500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−50% &lt; ROMI &lt; +100%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один вимірюваний крок до $300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 ≤ −50%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 пілоті випадково 50/50: пауза або крок до $250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$250 або пауза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 частини $200→$300 ≥ 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CA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ставимо в чергу до $500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 частини &lt; 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пауза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будь-який ROMI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автоматичне правило завершується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рішення для портфеля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764024"/>
            <a:ext cx="5408676" cy="1078992"/>
          </a:xfrm>
          <a:prstGeom prst="roundRect">
            <a:avLst>
              <a:gd name="adj" fmla="val 7627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4919472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919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07008" y="4882896"/>
            <a:ext cx="45857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$300 дивимося лише останню частину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Загальний ROMI тут не підходить: у ньому сидить старт, за який креатив уже отримав крок. Оцінюємо віддачу саме грошей $200 → $300.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3348" y="4764024"/>
            <a:ext cx="5408676" cy="1078992"/>
          </a:xfrm>
          <a:prstGeom prst="roundRect">
            <a:avLst>
              <a:gd name="adj" fmla="val 7627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96228" y="4919472"/>
            <a:ext cx="329184" cy="329184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96228" y="4919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3428" y="4882896"/>
            <a:ext cx="45857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Ризикова зона не вимикається автоматично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Її наступні гроші окупаються під 18,8% — нижче цілі, але це прибуток. Право вимикати дає лише експеримент.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6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9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· МЕХАНІКА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Бюджет рахуємо від фактичних витрат, а не від назви порогу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денні, тому в момент рішення креатив майже завжди вже перевитратив поріг. Видаємо тільки різницю.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65376"/>
            <a:ext cx="6382512" cy="312724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4764024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Медіанні накопичені витрати в момент першого перетину порогу.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975104"/>
          <a:ext cx="6126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059168" y="1975104"/>
            <a:ext cx="4562856" cy="658368"/>
          </a:xfrm>
          <a:prstGeom prst="roundRect">
            <a:avLst>
              <a:gd name="adj" fmla="val 11111"/>
            </a:avLst>
          </a:prstGeom>
          <a:solidFill>
            <a:srgbClr val="171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42048" y="1975104"/>
            <a:ext cx="4197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сума до видачі = max(0, ціль − уже витрачено)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59168" y="2706624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ціль $200, уже витрачено $79 → видаємо $121.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59168" y="3090672"/>
            <a:ext cx="4562856" cy="804672"/>
          </a:xfrm>
          <a:prstGeom prst="roundRect">
            <a:avLst>
              <a:gd name="adj" fmla="val 10227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0" y="318211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138160" y="3145536"/>
            <a:ext cx="3319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першого перетину $50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витратили ≥ $200 — новий бюджет їм не потрібен узагалі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059168" y="3986784"/>
            <a:ext cx="4562856" cy="804672"/>
          </a:xfrm>
          <a:prstGeom prst="roundRect">
            <a:avLst>
              <a:gd name="adj" fmla="val 10227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4078224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138160" y="4041648"/>
            <a:ext cx="3319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першого перетину $200
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витратили ≥ $500 — одразу переходять до рішення портфеля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" y="5193792"/>
            <a:ext cx="11055096" cy="868680"/>
          </a:xfrm>
          <a:prstGeom prst="roundRect">
            <a:avLst>
              <a:gd name="adj" fmla="val 9474"/>
            </a:avLst>
          </a:prstGeom>
          <a:solidFill>
            <a:srgbClr val="F1F7F1"/>
          </a:solidFill>
          <a:ln w="9525">
            <a:solidFill>
              <a:srgbClr val="BFE3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303520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це принципово.  </a:t>
            </a:r>
            <a:pPr indent="0" marL="0">
              <a:buNone/>
            </a:pPr>
            <a:r>
              <a:rPr lang="en-US" sz="12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Формулювання «додати +$150» дало б різні підсумкові суми різним креативам — і бюджети двох груп в експерименті перестали б бути порівнянними. Абсолютна ціль робить крок однаковим для всіх і робить перевірку чесною.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21" name="Image 0" descr="OB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10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· ДИСЦИПЛІНА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Ручне рішення теж має правила — інакше фреймворк розмиється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кожної суми, де людина втручається, є один короткий перелік. Рішення не залежить від настрою маркетолога.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2048256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6384" y="250545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ТЕХНІЧНА ПЕРЕВІРКА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274320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посилання й сторінка працюють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проходить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витрати й дохід пишуться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покази йдуть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" y="3822192"/>
            <a:ext cx="3099816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82219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 працює → ціль $200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5112" y="1883664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44568" y="2048256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44568" y="250545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ОСТАННЯ ЧАСТИНА БЮДЖЕТУ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44568" y="274320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дивимося лише ROMI $200 → $300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загальний ROMI не підміняє його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порівнюємо з ціллю +30%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44568" y="3822192"/>
            <a:ext cx="3099816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4C3F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382219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30% → ціль $500, інакше пауза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83296" y="1883664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02752" y="2048256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02752" y="250545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ДЛЯ ПОРТФЕЛЯ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02752" y="274320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 гранична сума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відповідальний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наступного перегляду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02752" y="3822192"/>
            <a:ext cx="3099816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382219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цього → пауза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626864"/>
            <a:ext cx="11055096" cy="1051560"/>
          </a:xfrm>
          <a:prstGeom prst="roundRect">
            <a:avLst>
              <a:gd name="adj" fmla="val 7826"/>
            </a:avLst>
          </a:prstGeom>
          <a:solidFill>
            <a:srgbClr val="171635"/>
          </a:solidFill>
          <a:ln w="9525">
            <a:solidFill>
              <a:srgbClr val="17163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" y="4773168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рішень — обовʼязкова частина фреймворку, а не звітність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5102352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   ·   коли   ·   кампанія / група   ·   контрольна сума   ·   рекомендація правила   ·   фактична дія   ·   наступна ціль   ·   дата перегляду   ·   причина   ·   версія правил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8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9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· ОПЕРАЦІЙНА ЧАСТИНА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Спільний бюджет розподіляємо повними кроками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кожної групи експерименту один тижневий ліміт. Часткових виплат немає: крок або видається цілком, або не видається.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956816"/>
            <a:ext cx="6217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Спочатку завершуємо розпочате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Креативи, які вже в тесті, добираємо до найближчої контрольної суми. Хто чекає довше — той вище в черзі.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862072"/>
            <a:ext cx="329184" cy="329184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825496"/>
            <a:ext cx="6217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Далі — сильні кандидати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Залишок віддаємо зоні ROMI ≥ +100%, у порядку спадання ROMI. Це пріоритет, а не гарантія перемоги.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730752"/>
            <a:ext cx="329184" cy="329184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694176"/>
            <a:ext cx="6217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Решту переносимо, а не витрачаємо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на повний крок не вистачає, гроші переходять на наступний тиждень. Половина кроку зробила б результат невимірюваним.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07808" y="1572768"/>
            <a:ext cx="4014216" cy="2880360"/>
          </a:xfrm>
          <a:prstGeom prst="roundRect">
            <a:avLst>
              <a:gd name="adj" fmla="val 2857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27264" y="171907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 тижня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27264" y="2084832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тижневий бюджет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50424" y="208483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27264" y="2587752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розпочаті кроки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50424" y="258775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27264" y="3090672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сильному кандидату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50424" y="309067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27264" y="3593592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перенесено на наступний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50424" y="359359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27264" y="4133088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Частковий крок не видається нікому: $10 переносяться, а не «доливаються» четвертому кандидату.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4709160"/>
            <a:ext cx="1105509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837176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виконуваний, а не описовий.  </a:t>
            </a:r>
            <a:pPr indent="0" marL="0">
              <a:buNone/>
            </a:pPr>
            <a:r>
              <a:rPr lang="en-US" sz="12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allocate_weekly_policy_budget у розділі 11 ноутбука приймає чергу заявок і тижневий ліміт, а повертає розподіл із перевірками: жоден креатив не отримує часткового кроку, сума виданого плюс перенесеного завжди дорівнює бюджету, дублікати в черзі відхиляються.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29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11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НА ДАНИХ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Історія підтримує порядок пріоритетів — але не доводить ефект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кожної гілки рахуємо ROMI грошей, витрачених саме після рішення. Три основні гілки перевищують ціль +30%.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65376"/>
            <a:ext cx="7114032" cy="3218688"/>
          </a:xfrm>
          <a:prstGeom prst="roundRect">
            <a:avLst>
              <a:gd name="adj" fmla="val 2557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485546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витрат, зроблених після моменту рішення. Ціль бізнесу — +30%.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975104"/>
          <a:ext cx="68580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790688" y="1975104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результатів ми взагалі бачимо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90688" y="2286000"/>
          <a:ext cx="3831336" cy="914400"/>
        </p:xfrm>
        <a:graphic>
          <a:graphicData uri="http://schemas.openxmlformats.org/drawingml/2006/table">
            <a:tbl>
              <a:tblPr/>
              <a:tblGrid>
                <a:gridCol w="1060704"/>
                <a:gridCol w="749808"/>
                <a:gridCol w="896112"/>
                <a:gridCol w="1298448"/>
              </a:tblGrid>
              <a:tr h="3200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гілка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кандидатів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потребують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бюджету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відомий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 → $100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 (22%)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 → $200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2 162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 (26%)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 → $250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(53%)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 → $300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 (47%)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 → $500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(61%)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90688" y="4123944"/>
            <a:ext cx="3831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це не доказ
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Майбутнє видно лише для тих креативів, яким у минулому вже дали бюджет. Гілка «$200 → $250» має всього 20 відомих результатів, і лише один із них перевищив ціль — тому її ROMI 40,5% тримається на одному викиді.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66928" y="5266944"/>
            <a:ext cx="11055096" cy="1051560"/>
          </a:xfrm>
          <a:prstGeom prst="roundRect">
            <a:avLst>
              <a:gd name="adj" fmla="val 7826"/>
            </a:avLst>
          </a:prstGeom>
          <a:solidFill>
            <a:srgbClr val="FDF3EC"/>
          </a:solidFill>
          <a:ln w="9525">
            <a:solidFill>
              <a:srgbClr val="F0D3B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5376672"/>
            <a:ext cx="10543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саме доводить ця перевірка.  </a:t>
            </a:r>
            <a:pPr indent="0" marL="0">
              <a:buNone/>
            </a:pPr>
            <a:r>
              <a:rPr lang="en-US" sz="12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Вона показує, що черга пріоритетів побудована правильно: гроші, віддані сильним кандидатам, справді окупалися краще за гроші, віддані ризиковій зоні. Вона </a:t>
            </a:r>
            <a:pPr indent="0" marL="0">
              <a:buNone/>
            </a:pPr>
            <a:r>
              <a:rPr lang="en-US" sz="12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pPr indent="0" marL="0">
              <a:buNone/>
            </a:pPr>
            <a:r>
              <a:rPr lang="en-US" sz="12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показує, що ці правила створили додатковий прибуток — для цього потрібен випадковий розподіл, описаний далі.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15" name="Image 0" descr="OB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10 ноутбука · графік final_budget_rules_historical_check.png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4 · РОЗРІЗИ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Однакові $200 купують різну кількість інформації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Ось чому обʼєми за розрізами вже відрізняються — навіть якщо поріг записаний одним числом.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47088"/>
            <a:ext cx="6656832" cy="312724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474573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Пʼять найдешевших і пʼять найдорожчих тем серед 29, де подій достатньо для оцінки.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956816"/>
          <a:ext cx="6400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333488" y="1956816"/>
            <a:ext cx="4288536" cy="1463040"/>
          </a:xfrm>
          <a:prstGeom prst="roundRect">
            <a:avLst>
              <a:gd name="adj" fmla="val 5625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16368" y="2103120"/>
            <a:ext cx="3922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РОЗКИД ЦІНИ ПОДІЇ МІЖ ТЕМАМИ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516368" y="2340864"/>
            <a:ext cx="3922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×8,8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516368" y="2980944"/>
            <a:ext cx="3922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$1,83 до $16,10 — тому ті самі $200 дають від 12 до 109 подій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33488" y="3547872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× тип креативу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3488" y="3840480"/>
          <a:ext cx="428853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078992"/>
              </a:tblGrid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 події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подій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 $200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· variation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· variation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· 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· 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66928" y="5047488"/>
            <a:ext cx="5417820" cy="1207008"/>
          </a:xfrm>
          <a:prstGeom prst="roundRect">
            <a:avLst>
              <a:gd name="adj" fmla="val 6818"/>
            </a:avLst>
          </a:prstGeom>
          <a:solidFill>
            <a:srgbClr val="F1F7F1"/>
          </a:solidFill>
          <a:ln w="9525">
            <a:solidFill>
              <a:srgbClr val="BFE3B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" y="5193792"/>
            <a:ext cx="49423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відрізняються обʼєми? Так.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Формально єдиний поріг у доларах насправді означає різну суворість рішення: у дорогій темі $200 дають лише 12 подій, у дешевій — 109.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04204" y="5047488"/>
            <a:ext cx="5417820" cy="1207008"/>
          </a:xfrm>
          <a:prstGeom prst="roundRect">
            <a:avLst>
              <a:gd name="adj" fmla="val 6818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1948" y="5193792"/>
            <a:ext cx="49423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вводимо різні пороги зараз? Ні — і це свідомо.
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пріоритетній гілці $200 → $500 підтверджений результат є лише для 51 Static, 59 Video, 13 new і 97 variation. Пороги, оцінені на десятках спостережень, були б нестійкішими за похибку, яку мали б виправити.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20" name="Image 0" descr="OB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12.1 ноутбука · графік q4_segment_cost_of_information.png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4 · ЧОГО БРАКУЄ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Найсильніших розрізів у даних немає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Географії, кампанії, плейсменту й аудиторії у файлі немає. Кожен зміщує і вартість події, і ROMI — зібрати їх треба до пілота.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11055096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4251960"/>
                <a:gridCol w="4197096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розріз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чому впливає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ламається без нього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Географія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 словами автора кейсу: в одній країні 1 000 показів дають оплату, в іншій — жодної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Найбільша частина розкиду ROMI лишається непоясненою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Кампанія / група оголошень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CBO перерозподіляє бюджет усередині кампанії: один креатив може зʼїсти весь ліміт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Неможлива коректна рандомізація — групи впливають одна на одну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Місце показу й аудиторія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 показу й конверсія різняться між плейсментами в рази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Різницю між групами можна сплутати з різницею в закупівлі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Сезон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грудня — провал; період кінця грудня та зими — навпаки сплеск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Пороги, підібрані в грудні, можуть не працювати влітку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Звʼязок original ↔ variation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 даних немає parent-id, тому варіацію не можна повʼязати з джерелом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Неможливо виміряти головний бізнес-ефект: чи народжують хіти хороші варіації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404104"/>
            <a:ext cx="11055096" cy="822960"/>
          </a:xfrm>
          <a:prstGeom prst="roundRect">
            <a:avLst>
              <a:gd name="adj" fmla="val 10000"/>
            </a:avLst>
          </a:prstGeom>
          <a:solidFill>
            <a:srgbClr val="FDF3EC"/>
          </a:solidFill>
          <a:ln w="9525">
            <a:solidFill>
              <a:srgbClr val="F0D3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495544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Практичний висновок.  </a:t>
            </a:r>
            <a:pPr indent="0" marL="0">
              <a:buNone/>
            </a:pPr>
            <a:r>
              <a:rPr lang="en-US" sz="12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 поля потрібно почати збирати </a:t>
            </a:r>
            <a:pPr indent="0" marL="0">
              <a:buNone/>
            </a:pPr>
            <a:r>
              <a:rPr lang="en-US" sz="12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pPr indent="0" marL="0">
              <a:buNone/>
            </a:pPr>
            <a:r>
              <a:rPr lang="en-US" sz="12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запуску пілота, а не після нього. Особливо campaign_id і adset_id: без них рандомізація на рівні креативу некоректна, бо креативи однієї кампанії ділять спільний бюджет.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10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12 ноутбука, Q&amp;A з автором кейсу 31.07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5 · ЯК ВИМІРЯТИ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Користь правил доводить лише випадковий розподіл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Історична перевірка не відокремлює ефект правил від рішень Meta та маркетологів. Тому — контрольований експеримент.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2612898" cy="1874520"/>
          </a:xfrm>
          <a:prstGeom prst="roundRect">
            <a:avLst>
              <a:gd name="adj" fmla="val 4390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2048256"/>
            <a:ext cx="2210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ОДИНИЦЯ РОЗПОДІЛУ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" y="228600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кампанія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2779776"/>
            <a:ext cx="22105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креативи ділять бюджет кампанії — ділимо кампаніями. Інакше — креативами.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0994" y="1883664"/>
            <a:ext cx="2612898" cy="1874520"/>
          </a:xfrm>
          <a:prstGeom prst="roundRect">
            <a:avLst>
              <a:gd name="adj" fmla="val 4390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82162" y="2048256"/>
            <a:ext cx="2210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82162" y="228600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82162" y="2779776"/>
            <a:ext cx="22105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Поточний процес проти нових правил. Тижневі бюджети груп рівні.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5060" y="1883664"/>
            <a:ext cx="2612898" cy="1874520"/>
          </a:xfrm>
          <a:prstGeom prst="roundRect">
            <a:avLst>
              <a:gd name="adj" fmla="val 4390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6228" y="2048256"/>
            <a:ext cx="2210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ПОКАЗНИК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96228" y="228600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днів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96228" y="2779776"/>
            <a:ext cx="22105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Приріст доходу мінус приріст витрат за 14 календарних днів; одна зафіксована версія прогнозу.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9126" y="1883664"/>
            <a:ext cx="2612898" cy="1874520"/>
          </a:xfrm>
          <a:prstGeom prst="roundRect">
            <a:avLst>
              <a:gd name="adj" fmla="val 4390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10294" y="2048256"/>
            <a:ext cx="2210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КРИТЕРІЙ РІШЕННЯ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10294" y="228600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нижня межа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10294" y="2779776"/>
            <a:ext cx="22105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Впроваджуємо, лише якщо нижня межа 95% інтервалу не нижча за мінімальний корисний ефект.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069080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4032504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 у тест — при першому досягненні $50 накопичених витрат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фіксується один раз на креатив і не змінюється. Стратифікація: тиждень запуску × формат медіа × тип креативу.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855464"/>
            <a:ext cx="329184" cy="329184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4128" y="4818888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Рахуємо за призначеною групою, навіть якщо правило обійшли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Нульове продовження лишається нулем, а не «немає даних». Інакше оцінка ефекту зміщується на користь нових правил.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5641848"/>
            <a:ext cx="329184" cy="329184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5641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560527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обовʼязкові перевірки перед висновком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Бюджети груп справді рівні · жоден сегмент не домінує · результат не тримається на одному викиді.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13648" y="4224528"/>
            <a:ext cx="3008376" cy="1975104"/>
          </a:xfrm>
          <a:prstGeom prst="roundRect">
            <a:avLst>
              <a:gd name="adj" fmla="val 4167"/>
            </a:avLst>
          </a:prstGeom>
          <a:solidFill>
            <a:srgbClr val="171635"/>
          </a:solidFill>
          <a:ln w="9525">
            <a:solidFill>
              <a:srgbClr val="17163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833104" y="437083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Ризикова зона — теж експеримент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33104" y="4700016"/>
            <a:ext cx="2569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Усередині пілота креативи з ROMI ≤ −50% на $200 діляться 50/50: пауза проти кроку до $250. Це єдиний спосіб дізнатися, скільки хороших креативів ми вимикали б помилково — з історії це не виводиться в принципі.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35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13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5 · ПЛАНУВАННЯ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Скільки це триватиме — і як зробити швидше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Розмір вибірки без строку — половина відповіді. Проблема не в малому ефекті, а у величезному розкиді результату одного креативу.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47088"/>
            <a:ext cx="6793992" cy="3081528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4700016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Тижнів до висновку при середньому історичному темпі появи нових креативів (включно з 14-денним хвостом).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956816"/>
          <a:ext cx="65379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70648" y="1956816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Звідки береться 9 046 на групу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70648" y="2249424"/>
          <a:ext cx="4151376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67335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мінімально корисний ефект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очікуваний ефект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запас = очікуваний − мінімум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розкид результату (SD)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$1 201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потрібно на групу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C3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9 046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470648" y="4005072"/>
            <a:ext cx="4151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Вибірку рахуємо не «проти нуля»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Критерій суворий: нижня межа інтервалу має перевищити мінімально корисний ефект. Тому в знаменнику стоїть запас $50, а не сам ефект. Якщо очікуваний ефект дорівнює мінімальному, жодна скінченна вибірка не дає 80% шансу пройти цей критерій.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5084064"/>
            <a:ext cx="355092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49808" y="5230368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МЕДІАННИЙ РЕЗУЛЬТАТ КРЕАТИВУ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49808" y="5468112"/>
            <a:ext cx="318516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49808" y="5866384"/>
            <a:ext cx="318516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середньому $142 — хвіст, а не типовий випадок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19016" y="5084064"/>
            <a:ext cx="355092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501896" y="5230368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РОЗКИД ПРОТИ МЕДІАНИ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501896" y="5468112"/>
            <a:ext cx="318516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$1 201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501896" y="5866384"/>
            <a:ext cx="318516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наслідок того, що топ-1% креативів тримає 64% бюджету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71104" y="5084064"/>
            <a:ext cx="355092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253984" y="5230368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253984" y="5468112"/>
            <a:ext cx="318516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знижуємо розкид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8253984" y="5866384"/>
            <a:ext cx="318516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 й CUPED скорочують перевірку з 42 до 19 тижнів, не послаблюючи критерій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25" name="Image 0" descr="OB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розділи 13.1 і 13.2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ІНСАЙТИ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Чотири факти з даних, які змінюють оптику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входять у правила напряму, але міняють те, як варто дивитися на тестування креативів у цілому.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5426964" cy="1481328"/>
          </a:xfrm>
          <a:prstGeom prst="roundRect">
            <a:avLst>
              <a:gd name="adj" fmla="val 5556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0665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79776" y="2084832"/>
            <a:ext cx="2976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бюджету забирає топ-1% креативів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660904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Бюджетом усередині кампанії керує алгоритм Meta, а не маркетолог. Тому правило має бути про наступний крок, а не про фінальний вирок.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5060" y="1883664"/>
            <a:ext cx="5426964" cy="1481328"/>
          </a:xfrm>
          <a:prstGeom prst="roundRect">
            <a:avLst>
              <a:gd name="adj" fmla="val 5556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32804" y="20665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6,4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407908" y="2084832"/>
            <a:ext cx="2976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розкид апселів проти CV 0,37 у прогнозі доходу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32804" y="2660904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Апселі дають 36% доходу, але саме вони створюють «пилу» раннього ROMI. Одна велика покупка одномоментно змінює картину.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547872"/>
            <a:ext cx="5426964" cy="1481328"/>
          </a:xfrm>
          <a:prstGeom prst="roundRect">
            <a:avLst>
              <a:gd name="adj" fmla="val 5556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3730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2 097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779776" y="3749040"/>
            <a:ext cx="2976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креативів (3,0%) не витратили жодного долара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" y="4325112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не провали — це запуски, яким алгоритм не дав шансу. Рахувати їх як невдачі означає системно недооцінювати роботу дизайнерів.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5060" y="3547872"/>
            <a:ext cx="5426964" cy="1481328"/>
          </a:xfrm>
          <a:prstGeom prst="roundRect">
            <a:avLst>
              <a:gd name="adj" fmla="val 5556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32804" y="3730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407908" y="3749040"/>
            <a:ext cx="2976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усього бюджету припадає на грудень 2025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32804" y="4325112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Медіанний креатив живе 2 дні. Фреймворк мусить давати відповідь за дні: другого тижня у більшості просто не буде.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248656"/>
            <a:ext cx="11055096" cy="841248"/>
          </a:xfrm>
          <a:prstGeom prst="roundRect">
            <a:avLst>
              <a:gd name="adj" fmla="val 9783"/>
            </a:avLst>
          </a:prstGeom>
          <a:solidFill>
            <a:srgbClr val="171635"/>
          </a:solidFill>
          <a:ln w="9525">
            <a:solidFill>
              <a:srgbClr val="17163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" y="5340096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Спільне в цих фактах:  </a:t>
            </a:r>
            <a:pPr indent="0" marL="0">
              <a:buNone/>
            </a:pPr>
            <a:r>
              <a:rPr lang="en-US" sz="12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окремого креативу здебільшого визначають речі поза його якістю — рішення алгоритму, рідкісні великі покупки й сезон. Саме тому фреймворк керує ризиком кроку, а не намагається вгадати переможця.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25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15 ноутбука · графік insights_portfolio.png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6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Пʼять відповідей кейсу — в одному місці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72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9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" y="14721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Мінімальний поріг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538728" y="14721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E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44768" y="1435608"/>
            <a:ext cx="5477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Виведено з даних: на $25 у 36% креативів ще немає жодної події, тому ROMI −100% означає відсутність даних. До $50 — лише технічна перевірка.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1854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9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15568" y="21854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Очевидні випадки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38728" y="21854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E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$200 за зоною ROMI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44768" y="2148840"/>
            <a:ext cx="5477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+100% — сильний: змінює статус у 11,5%. ≤ −50% — ризиковий: 28,4%. Середнє по всіх — 37,0%.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898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9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15568" y="2898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Неоднозначні й максимум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38728" y="28986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E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$300, межа $500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44768" y="2862072"/>
            <a:ext cx="5477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Сіра зона — 70% креативів і 50,0% змін статусу. Суми «достатньої точності» не існує, тому межу обрано за ціною.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611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9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15568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Розрізи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38728" y="3611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E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спільні, звіт окремий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44768" y="3575304"/>
            <a:ext cx="5477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 події різниться в 8,8 раза між темами, тож обʼєми вже різні. Але сегментних даних поки замало для окремих порогів.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4325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9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15568" y="4325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виміряти ефект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38728" y="4325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E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випадковий тест 50/50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44768" y="4288536"/>
            <a:ext cx="5477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Рівні бюджети, прибуток за 14 днів, рішення за нижньою межею інтервалу. Розкид знижуємо кластерами й CUPED.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221224"/>
            <a:ext cx="11055096" cy="960120"/>
          </a:xfrm>
          <a:prstGeom prst="roundRect">
            <a:avLst>
              <a:gd name="adj" fmla="val 8571"/>
            </a:avLst>
          </a:prstGeom>
          <a:solidFill>
            <a:srgbClr val="221F4D"/>
          </a:solidFill>
          <a:ln w="9525">
            <a:solidFill>
              <a:srgbClr val="3B3670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" y="5349240"/>
            <a:ext cx="10506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Рекомендація:  </a:t>
            </a:r>
            <a:pPr indent="0" marL="0">
              <a:buNone/>
            </a:pPr>
            <a:r>
              <a:rPr lang="en-US" sz="13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запустити контрольований пілот на кампаніях із рівними бюджетами. Історія підтримує порядок пріоритетів, але не доводить економічний ефект — і ми не видаємо одне за інше.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28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МЕЖІ ВИСНОВКІВ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Чого ми не стверджуємо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Розділ, без якого фреймворк був би небезпечним: він показує, де саме закінчується доведене.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5417820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011680"/>
            <a:ext cx="497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не довели, що правила заробляють гроші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286000"/>
            <a:ext cx="49789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Історичний результат видно лише для креативів, яким у минулому вже дали бюджет. Це селективна розмітка, а не випадкова вибірка.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999232"/>
            <a:ext cx="5417820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3127248"/>
            <a:ext cx="497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не пропонуємо автоматичне вимкнення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3401568"/>
            <a:ext cx="49789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Наступні гроші ризикової зони окупаються під 18,8% — нижче цілі, але це прибуток. Право вимикати дає лише експеримент.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5417820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4242816"/>
            <a:ext cx="497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−50%, +100%, $50, $200, $500 — кандидати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4517136"/>
            <a:ext cx="49789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Вони обґрунтовані даними, але не оптимізовані як універсальні константи. Точні значення уточнює пілот.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4204" y="1883664"/>
            <a:ext cx="5417820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3660" y="2011680"/>
            <a:ext cx="497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Дохід у файлі прогнозований, а не отриманий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23660" y="2286000"/>
            <a:ext cx="49789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predict_net_revenue — це pLTV. Одну версію прогнозу фіксуємо до старту, а після дозрівання когорт звіряємо з фактичними грошима.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04204" y="2999232"/>
            <a:ext cx="5417820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3660" y="3127248"/>
            <a:ext cx="497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Семантика поля trials не підтверджена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23660" y="3401568"/>
            <a:ext cx="49789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ненульові значення кратні 16, причину автор кейсу не назвала. Тому ніде в роботі ми не називаємо це число кількістю оплат.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04204" y="4114800"/>
            <a:ext cx="5417820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4242816"/>
            <a:ext cx="497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Часове покриття перевірки вузьке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23660" y="4517136"/>
            <a:ext cx="49789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періоди перевірки моделі лежать у проміжку близько 30.11 – 19.01. Це краще за один поділ, але не доказ стійкості між сезонами.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5340096"/>
            <a:ext cx="11055096" cy="841248"/>
          </a:xfrm>
          <a:prstGeom prst="roundRect">
            <a:avLst>
              <a:gd name="adj" fmla="val 9783"/>
            </a:avLst>
          </a:prstGeom>
          <a:solidFill>
            <a:srgbClr val="F1F7F1"/>
          </a:solidFill>
          <a:ln w="9525">
            <a:solidFill>
              <a:srgbClr val="BFE3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13248"/>
            <a:ext cx="10543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 цього випливає для впровадження.  </a:t>
            </a:r>
            <a:pPr indent="0" marL="0">
              <a:buNone/>
            </a:pPr>
            <a:r>
              <a:rPr lang="en-US" sz="12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можна вмикати вже зараз — але як керовану процедуру з журналом і пілотом, а не як автопілот. Перший результат, який дасть право розширювати правила, — прибуток за 14 днів у випадковому тесті.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27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14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ДОДАТОК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в пакеті й як це перевірити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Кожне число на слайдах відтворюється з початкового файлу даних за один запуск.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3550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20299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" y="2267712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1_Презентація.pptx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254203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Цей файл. Усі висновки, правила, обмеження й план перевірки — безпосередньо на слайдах.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19016" y="1883664"/>
            <a:ext cx="3550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0184" y="20299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0184" y="2267712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2_Аналіз_у_браузері.html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0184" y="254203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 версія висновків, таблиць і графіків без коду. Відкривається в браузері.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71104" y="1883664"/>
            <a:ext cx="3550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2272" y="20299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2272" y="2267712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3_Аналіз_ноутбук.ipynb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2272" y="254203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Відтворюваний аналіз: 16 розділів, маршрут читання й таблиця «питання кейсу → розділ».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3550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" y="3401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" y="3639312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data/deck_data.json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" y="391363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Числа, з яких зібрано цю деку. Експортуються розділом 16 ноутбука.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19016" y="3255264"/>
            <a:ext cx="3550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0184" y="3401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0184" y="3639312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data/creo_framework_data.csv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0184" y="391363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Вхідні дані для повторного запуску розрахунків.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71104" y="3255264"/>
            <a:ext cx="3550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72272" y="3401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2272" y="3639312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72272" y="391363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Версії бібліотек, на яких перевірено повний запуск від початку до кінця.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4681728"/>
            <a:ext cx="11055096" cy="1371600"/>
          </a:xfrm>
          <a:prstGeom prst="roundRect">
            <a:avLst>
              <a:gd name="adj" fmla="val 6000"/>
            </a:avLst>
          </a:prstGeom>
          <a:solidFill>
            <a:srgbClr val="171635"/>
          </a:solidFill>
          <a:ln w="9525">
            <a:solidFill>
              <a:srgbClr val="171635"/>
            </a:solidFill>
            <a:prstDash val="solid"/>
          </a:ln>
          <a:effectLst>
            <a:outerShdw sx="100000" sy="100000" kx="0" ky="0" algn="bl" rotWithShape="0" blurRad="101600" dist="25400" dir="5400000">
              <a:srgbClr val="171635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41248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відтворити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" y="515721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Встановити бібліотеки з requirements.txt і виконати всі комірки ноутбука від початку до кінця з цієї теки як кореня проєкту. Графіки збережуться в figures, числа — в data/deck_data.json.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65008" y="49926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065008" y="53766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розрахункові комірки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390888" y="49926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390888" y="53766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помилок при повному запуску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716768" y="49926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716768" y="53766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збережених графіків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40" name="Image 0" descr="OB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OBRIO · Фреймворк тестування креативів</dc:title>
  <dc:subject>PptxGenJS Presentation</dc:subject>
  <dc:creator>Genesis Analytics Camp 3.0 · Case #4</dc:creator>
  <cp:lastModifiedBy>Genesis Analytics Camp 3.0 · Case #4</cp:lastModifiedBy>
  <cp:revision>1</cp:revision>
  <dcterms:created xsi:type="dcterms:W3CDTF">2026-08-02T17:55:51Z</dcterms:created>
  <dcterms:modified xsi:type="dcterms:W3CDTF">2026-08-02T17:55:51Z</dcterms:modified>
</cp:coreProperties>
</file>